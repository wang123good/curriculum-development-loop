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2cc2c99484a41" /><Relationship Type="http://schemas.openxmlformats.org/officeDocument/2006/relationships/extended-properties" Target="/docProps/app.xml" Id="R9e0ad5491a784fb9" /><Relationship Type="http://schemas.openxmlformats.org/officeDocument/2006/relationships/officeDocument" Target="/ppt/presentation.xml" Id="Rab0dcd61507445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152a791828494d"/>
  </p:sldMasterIdLst>
  <p:notesMasterIdLst>
    <p:notesMasterId xmlns:r="http://schemas.openxmlformats.org/officeDocument/2006/relationships" r:id="Ra03f79aefa0a4006"/>
  </p:notesMasterIdLst>
  <p:sldIdLst>
    <p:sldId xmlns:r="http://schemas.openxmlformats.org/officeDocument/2006/relationships" id="256" r:id="R7921033ef68c415f"/>
    <p:sldId xmlns:r="http://schemas.openxmlformats.org/officeDocument/2006/relationships" id="257" r:id="R659656f2aed141b4"/>
    <p:sldId xmlns:r="http://schemas.openxmlformats.org/officeDocument/2006/relationships" id="258" r:id="Rf75da3fdc4b64e1e"/>
    <p:sldId xmlns:r="http://schemas.openxmlformats.org/officeDocument/2006/relationships" id="259" r:id="R367468b76064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6c38acf044ab0" /><Relationship Type="http://schemas.openxmlformats.org/officeDocument/2006/relationships/slideMaster" Target="/ppt/slideMasters/slideMaster1.xml" Id="R3a152a791828494d" /><Relationship Type="http://schemas.openxmlformats.org/officeDocument/2006/relationships/notesMaster" Target="/ppt/notesMasters/notesMaster1.xml" Id="Ra03f79aefa0a4006" /><Relationship Type="http://schemas.openxmlformats.org/officeDocument/2006/relationships/presProps" Target="/ppt/presProps.xml" Id="R762aa2d905ee4d77" /><Relationship Type="http://schemas.openxmlformats.org/officeDocument/2006/relationships/tableStyles" Target="/ppt/tableStyles.xml" Id="Ra0113f4afc6d42ae" /><Relationship Type="http://schemas.openxmlformats.org/officeDocument/2006/relationships/slide" Target="/ppt/slides/slide1.xml" Id="R7921033ef68c415f" /><Relationship Type="http://schemas.openxmlformats.org/officeDocument/2006/relationships/slide" Target="/ppt/slides/slide2.xml" Id="R659656f2aed141b4" /><Relationship Type="http://schemas.openxmlformats.org/officeDocument/2006/relationships/slide" Target="/ppt/slides/slide3.xml" Id="Rf75da3fdc4b64e1e" /><Relationship Type="http://schemas.openxmlformats.org/officeDocument/2006/relationships/slide" Target="/ppt/slides/slide4.xml" Id="R367468b76064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88ee45f5c3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54f3341b804be9" /><Relationship Type="http://schemas.openxmlformats.org/officeDocument/2006/relationships/notesMaster" Target="/ppt/notesMasters/notesMaster1.xml" Id="R6ee6bafe76e849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5816128d3a44a5" /><Relationship Type="http://schemas.openxmlformats.org/officeDocument/2006/relationships/notesMaster" Target="/ppt/notesMasters/notesMaster1.xml" Id="R4cfffba20bf942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647c7304104c0a" /><Relationship Type="http://schemas.openxmlformats.org/officeDocument/2006/relationships/notesMaster" Target="/ppt/notesMasters/notesMaster1.xml" Id="R549e37dfcea047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dee0debe544289" /><Relationship Type="http://schemas.openxmlformats.org/officeDocument/2006/relationships/notesMaster" Target="/ppt/notesMasters/notesMaster1.xml" Id="Rfdf2520cb406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讲述：假设你只是请助手预订一次行程。等待超时后，它贴心地说再试一次。问题是第一次究竟发生了什么？先请学员预测，再进入下一页。</a:t>
            </a:r>
          </a:p>
          <a:p xmlns:a="http://schemas.openxmlformats.org/drawingml/2006/main">
            <a:r>
              <a:t>教学案例为构造场景，不代表真实事故。机器人插画由用户提供，保留原图与原有标记，仅作内部形象评审参考。</a:t>
            </a:r>
          </a:p>
          <a:p xmlns:a="http://schemas.openxmlformats.org/drawingml/2006/main">
            <a:r>
              <a:t>对应：U01。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讲述：把自己放在订单服务与 Agent 两个位置。服务在第二步已经完成工作，Agent 却要等到第四步才保存证据。中间没有原子地同时完成，所以二者认识可能不一致。普通 HTTP 调用也有同样风险。</a:t>
            </a:r>
          </a:p>
          <a:p xmlns:a="http://schemas.openxmlformats.org/drawingml/2006/main">
            <a:r>
              <a:t>边界：某些工具返回明确未执行的错误，但必须以工具契约为依据，不能把所有超时或报错归为未执行。</a:t>
            </a:r>
          </a:p>
          <a:p xmlns:a="http://schemas.openxmlformats.org/drawingml/2006/main">
            <a:r>
              <a:t>理解问题：如果在第三步网络断开，第二步的订单会自动消失吗？</a:t>
            </a:r>
          </a:p>
          <a:p xmlns:a="http://schemas.openxmlformats.org/drawingml/2006/main">
            <a:r>
              <a:t>对应：U02。技术内容为机制预览，系统调研与外部论断核验尚未开展。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讲述：用户按下停止，相当于阻止助手继续工作，却不必然收回已经送达订单服务的请求。这张图展示一种可能的执行顺序，不意味着服务总是在停止之后才完成。外部也可能更早成功。</a:t>
            </a:r>
          </a:p>
          <a:p xmlns:a="http://schemas.openxmlformats.org/drawingml/2006/main">
            <a:r>
              <a:t>理解问题：Agent 恢复后只有“请求已发出”的记录。你能断言订单没生成吗？答案：不能，应保留结果未知。</a:t>
            </a:r>
          </a:p>
          <a:p xmlns:a="http://schemas.openxmlformats.org/drawingml/2006/main">
            <a:r>
              <a:t>边界：取消能力因服务而异，发送取消请求也不等于收到取消成功确认。</a:t>
            </a:r>
          </a:p>
          <a:p xmlns:a="http://schemas.openxmlformats.org/drawingml/2006/main">
            <a:r>
              <a:t>对应：U03 / 窗口 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讲述：第一步是找证据。能查就先查，但查询也可能暂时无结果。只有执行端提供了有效的幂等保障，才可以按契约用原业务操作标识重试。否则应该诚实地保留未知。</a:t>
            </a:r>
          </a:p>
          <a:p xmlns:a="http://schemas.openxmlformats.org/drawingml/2006/main">
            <a:r>
              <a:t>表中为有副作用操作的简化处理原则，不涵盖所有工具。仍需处理重试预算、去重有效期、参数一致性、并发竞争和部分执行。幂等键不代表全局恰好一次。</a:t>
            </a:r>
          </a:p>
          <a:p xmlns:a="http://schemas.openxmlformats.org/drawingml/2006/main">
            <a:r>
              <a:t>理解问题：换一个新的工具调用 ID，再次调用是否安全？答案：不能据此判断，要确认业务操作身份与执行端契约。</a:t>
            </a:r>
          </a:p>
          <a:p xmlns:a="http://schemas.openxmlformats.org/drawingml/2006/main">
            <a:r>
              <a:t>对应：U05 / U06。正式样章需补充实现依据与伪代码。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77329712348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fa0b404c548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7fc0b032b4e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7e7108ef841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b0d3e02fdc4d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5624ce00c45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3D9707-1727-42D4-A89E-B5EC323E59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EED7E3-9950-4761-B529-793C984906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1FFA89-896B-4D85-BEDA-A641A933F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9A0EC-29D8-4E01-97A5-F46D40E64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BDE337B-4A42-4659-A776-63FA84732C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0ACC3B-7D1C-4517-9BAD-366449094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1F58A5-CDAF-4FF2-943D-67CCFBC0B7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561E71-AB80-4125-8A8F-377E52FA3E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31FB08-8D11-4833-821E-1CD3EC5A9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6A84D-47E9-4E17-B66E-89B461ADA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ab91dfebf48fc" /><Relationship Type="http://schemas.openxmlformats.org/officeDocument/2006/relationships/slideLayout" Target="/ppt/slideLayouts/slideLayout1.xml" Id="Rd1248efc7a6a438a" /><Relationship Type="http://schemas.openxmlformats.org/officeDocument/2006/relationships/slideLayout" Target="/ppt/slideLayouts/slideLayout2.xml" Id="R1555d5e91e7849ea" /><Relationship Type="http://schemas.openxmlformats.org/officeDocument/2006/relationships/slideLayout" Target="/ppt/slideLayouts/slideLayout3.xml" Id="R99f117b990b0498d" /><Relationship Type="http://schemas.openxmlformats.org/officeDocument/2006/relationships/slideLayout" Target="/ppt/slideLayouts/slideLayout4.xml" Id="R3bdae915cb4b4669" /><Relationship Type="http://schemas.openxmlformats.org/officeDocument/2006/relationships/slideLayout" Target="/ppt/slideLayouts/slideLayout5.xml" Id="R8033c88821d341ee" /><Relationship Type="http://schemas.openxmlformats.org/officeDocument/2006/relationships/slideLayout" Target="/ppt/slideLayouts/slideLayout6.xml" Id="R022827d7e4bd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248efc7a6a438a"/>
    <p:sldLayoutId xmlns:r="http://schemas.openxmlformats.org/officeDocument/2006/relationships" id="2147483650" r:id="R1555d5e91e7849ea"/>
    <p:sldLayoutId xmlns:r="http://schemas.openxmlformats.org/officeDocument/2006/relationships" id="2147483651" r:id="R99f117b990b0498d"/>
    <p:sldLayoutId xmlns:r="http://schemas.openxmlformats.org/officeDocument/2006/relationships" id="2147483652" r:id="R3bdae915cb4b4669"/>
    <p:sldLayoutId xmlns:r="http://schemas.openxmlformats.org/officeDocument/2006/relationships" id="2147483653" r:id="R8033c88821d341ee"/>
    <p:sldLayoutId xmlns:r="http://schemas.openxmlformats.org/officeDocument/2006/relationships" id="2147483654" r:id="R022827d7e4bd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7ba97532140f1" /><Relationship Type="http://schemas.openxmlformats.org/officeDocument/2006/relationships/image" Target="/ppt/media/image.png" Id="R41acd26de12a48fc" /><Relationship Type="http://schemas.openxmlformats.org/officeDocument/2006/relationships/notesSlide" Target="/ppt/notesSlides/notesSlide1.xml" Id="R5c3c66b672fe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251ec12b644a8a" /><Relationship Type="http://schemas.openxmlformats.org/officeDocument/2006/relationships/notesSlide" Target="/ppt/notesSlides/notesSlide2.xml" Id="Rf1b0630ad9ab44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f2e98d33046b9" /><Relationship Type="http://schemas.openxmlformats.org/officeDocument/2006/relationships/notesSlide" Target="/ppt/notesSlides/notesSlide3.xml" Id="R2814a23efff047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9a998649448c9" /><Relationship Type="http://schemas.openxmlformats.org/officeDocument/2006/relationships/notesSlide" Target="/ppt/notesSlides/notesSlide4.xml" Id="Ra26f0b7818ab46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CAD64-26A2-40BD-BA8E-1605591D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一次任务，为什么出现两张订单？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4FC1A-0631-4494-AFB9-6A19DC17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用户只让 Agent 预订一次，界面却停在“等待结果”。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3A1B2-5922-47EF-8DB6-DCDBDAC6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CDL-sample01 · 教学预览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AEA8B-D2D2-43EA-B640-E8A5987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5BC30-0F74-49B2-BE84-227AA07C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00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rPr>
              <a:t>“刚才超时了，</a:t>
            </a:r>
          </a:p>
          <a:p xmlns:a="http://schemas.openxmlformats.org/drawingml/2006/main">
            <a:pPr>
              <a:defRPr sz="3150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rPr>
              <a:t>我再帮你试一次。”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CC5FF-9844-4817-BDA5-E00A56A8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857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稍后，用户发现两笔预订均已成功。</a:t>
            </a:r>
          </a:p>
          <a:p xmlns:a="http://schemas.openxmlformats.org/drawingml/2006/main">
            <a:pPr>
              <a:def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他需要核查扣款、联系取消，还要重新判断</a:t>
            </a:r>
          </a:p>
          <a:p xmlns:a="http://schemas.openxmlformats.org/drawingml/2006/main">
            <a:pPr>
              <a:def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这个 Agent 是否值得信任。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7877C-9430-4C68-8D9D-F8815810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没有收到成功消息，能证明服务没有执行吗？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9CFEC-D85E-44CD-97D2-C6FD7777B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cd26de12a48fc"/>
          <a:stretch xmlns:a="http://schemas.openxmlformats.org/drawingml/2006/main"/>
        </p:blipFill>
        <p:spPr>
          <a:xfrm xmlns:a="http://schemas.openxmlformats.org/drawingml/2006/main">
            <a:off x="7400925" y="2009775"/>
            <a:ext cx="3524250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41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FAACD-7276-4A04-B36D-63A1A3C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工具执行与完成证据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956B1-579E-49BB-9DD0-F4574DA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同一次调用中，业务效果与 Agent 保存结果发生在不同时间。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6BB6-107C-48A6-9B63-FC8CEFE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CDL-sample01 · 教学预览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761DC-E08E-43E2-ADEB-BA6DEF0C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2EC24-4283-4C72-9728-3ED5F7BB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CCD54-3AEA-4363-BCF9-02D2B856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82E16-515D-4B85-A14B-BDFFADF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发出预订请求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7BA3B-AB29-446B-9B8B-D96B2810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执行器把请求交给服务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D5AED-E216-4C82-9CA0-0FC40D0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46F84-CAB9-42EF-A300-758DB461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57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77757-0ADC-4CF1-B93C-DAFB47B7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00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03A37-A18E-4A3C-ACB1-FBA1BD48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服务创建订单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CE14A-59C8-49EA-8F2B-B28FF0B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781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外部业务效果已发生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A4539-01F8-4A2D-855A-21F836B8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432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5618F-C13C-43D7-88AD-9BFD7ACF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C64D5-1202-4189-AC4E-AADCEB72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DFDDF-EBF4-4D34-9AFA-C8EEB24C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回执返回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EC7F6-35D1-4444-8E2A-808C019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消息仍可能丢失或超时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DA654-7BF0-4B53-B3BB-19B9454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4322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FC6FC-05F1-4970-BBD4-906FA86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574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CEA52-23CE-44AE-8367-E84FF46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003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C097E-D05C-4E29-BB0D-673EBE0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908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保存执行结果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4C10D-921A-47EF-A7F1-17654EC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81425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Agent 才有持久化证据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D8EA9-6A41-47CB-BC59-31F209C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70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D9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886966-9502-480A-8F42-7906F6C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外部已经成功，本地仍可能没有成功记录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F6709-4101-453D-839A-5715EB5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超时只能说明等待结束。是否产生业务效果，需要结合服务契约和状态证据判断。</a:t>
            </a:r>
          </a:p>
        </p:txBody>
      </p:sp>
    </p:spTree>
    <p:extLst>
      <p:ext uri="{BB962C8B-B14F-4D97-AF65-F5344CB8AC3E}">
        <p14:creationId xmlns:p14="http://schemas.microsoft.com/office/powerpoint/2010/main" val="1886628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1439E-C925-42B4-911B-52EB38C8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Agent 停止后，订单服务可能继续执行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11194-F627-4AFF-B34A-8E2039B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窗口 A：请求已发出，但 Agent 在接收并保存回执之前停止。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D3F3-0D32-412E-B9BF-1F04FDE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CDL-sample01 · 教学预览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B5ED9-FFDE-4C26-8CEE-E3757ECF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C337F-09CF-48AE-8B58-0B12F074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时间顺序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62348-937C-4A98-8ED4-16B7A241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请求发出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3E871-752B-4F32-9706-5FF85DC7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Agent 停止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1BE61-3FB5-48C3-9CE9-B66B2406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服务完成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7C75-BED6-4ADC-BC86-5C580C78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46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049EC-70C9-4082-95B8-B8BEA51E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914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3CB84-5765-4F5D-B420-745738F0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05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已发出请求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CB786-E465-4EBA-B71E-B46B4BA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480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A1C2F-8E49-412F-A154-FA15EF9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146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A7483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EAEF0-ED46-4D8C-A752-98C4D51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05150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rPr>
              <a:t>进程退出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98157-0D41-44BA-8A8B-FF9FBFCB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480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9F72B-A88E-4AEF-8057-1E01C45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74839"/>
                </a:solidFill>
                <a:latin typeface="Microsoft YaHei"/>
                <a:ea typeface="Microsoft YaHei"/>
                <a:cs typeface="Microsoft YaHei"/>
              </a:rPr>
              <a:t>无成功记录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0BA54-00BB-4D77-A995-65EA2A53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订单服务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55D66-858D-4850-8C38-90249640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24325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CB1E1-B28D-4BE2-8617-8D68A923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148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收到请求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2B146-9D70-4210-ADC6-7F8BD7F3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2576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181E0-16A4-4DE0-B1CF-87068E3A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124325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286D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1D22C-4A6A-4486-AD51-0D0F5CAF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148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继续处理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325ED-BC60-4EE5-A733-B927FF1B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57675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D7F1E-4BF2-4135-93E1-CA7E4897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24325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5"/>
          </a:solidFill>
          <a:ln xmlns:a="http://schemas.openxmlformats.org/drawingml/2006/main" w="14288">
            <a:solidFill>
              <a:srgbClr val="3E715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BE340-89E7-42CB-B0C4-ECC8E5DB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1482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E7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E7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E715E"/>
                </a:solidFill>
                <a:latin typeface="Microsoft YaHei"/>
                <a:ea typeface="Microsoft YaHei"/>
                <a:cs typeface="Microsoft YaHei"/>
              </a:rPr>
              <a:t>订单已生成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221F0-3F5F-4DF3-BC57-3BD90581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rPr>
              <a:t>恢复时的陷阱：把“没有记录”当成“没有执行”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4C1AE-0BB3-44E8-8B1A-7A6164B7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本地停止不代表外部取消。只有获得可靠取消或状态证据，才能判断实际结果。</a:t>
            </a:r>
          </a:p>
        </p:txBody>
      </p:sp>
    </p:spTree>
    <p:extLst>
      <p:ext uri="{BB962C8B-B14F-4D97-AF65-F5344CB8AC3E}">
        <p14:creationId xmlns:p14="http://schemas.microsoft.com/office/powerpoint/2010/main" val="913568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A664E-9B86-456B-AF11-D918BDD2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结果未知时的下一步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42AC9-7CF5-4473-AF13-1651247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先检查完成证据与工具能力，再决定是否重试。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8FF91-8649-4767-82C7-6946D96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91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CDL-sample01 · 教学预览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80CF-F28F-427A-8057-EEB9ADC2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445B9-B9CC-4E11-9F64-2E248A7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能按业务操作标识查询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C1578-706F-41C8-949C-02F1D957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241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先查询状态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7A3C0-B590-4C02-AE1C-97BE0AE4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71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成功则取已有结果，处理中则有界等待。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DA538-71BE-420B-9E42-E76BCB08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31FC6-83A6-4DDD-A529-FD8984BC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支持可靠幂等，查询无定论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DA095-7376-4F62-9254-7E35BDB1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290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按契约用原标识重试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3AE8D-C9B5-47C9-9983-7D9C77A2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766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同一业务意图复用标识，不能另起一笔。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B2F3D-D336-4342-9332-0D66EBDD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3A375-87AD-4889-9337-3DEDC550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3B48"/>
                </a:solidFill>
                <a:latin typeface="Microsoft YaHei"/>
                <a:ea typeface="Microsoft YaHei"/>
                <a:cs typeface="Microsoft YaHei"/>
              </a:rPr>
              <a:t>无法查询，也无可靠幂等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4CACB-F1B2-46B7-9923-9C286064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33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F622A"/>
                </a:solidFill>
                <a:latin typeface="Microsoft YaHei"/>
                <a:ea typeface="Microsoft YaHei"/>
                <a:cs typeface="Microsoft YaHei"/>
              </a:rPr>
              <a:t>保留未知并升级处理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0189-2693-41BC-BDF6-0565B90D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815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078"/>
                </a:solidFill>
                <a:latin typeface="Microsoft YaHei"/>
                <a:ea typeface="Microsoft YaHei"/>
                <a:cs typeface="Microsoft YaHei"/>
              </a:rPr>
              <a:t>呈现重复执行风险，不自动重新发起。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AB6D7-88F4-4C66-9EFC-D4B6A919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6D91"/>
                </a:solidFill>
                <a:latin typeface="Microsoft YaHei"/>
                <a:ea typeface="Microsoft YaHei"/>
                <a:cs typeface="Microsoft YaHei"/>
              </a:rPr>
              <a:t>幂等需要执行端保障，单独生成一个 ID 并不能防止重复业务效果。</a:t>
            </a:r>
          </a:p>
        </p:txBody>
      </p:sp>
    </p:spTree>
    <p:extLst>
      <p:ext uri="{BB962C8B-B14F-4D97-AF65-F5344CB8AC3E}">
        <p14:creationId xmlns:p14="http://schemas.microsoft.com/office/powerpoint/2010/main" val="1139185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2026-10-16T15:37:52.4140000Z</dcterms:created>
  <dcterms:modified xsi:type="dcterms:W3CDTF">2026-10-16T15:37:52.4140000Z</dcterms:modified>
</coreProperties>
</file>